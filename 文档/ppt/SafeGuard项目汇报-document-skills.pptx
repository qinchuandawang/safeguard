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8288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10896"/>
            <a:ext cx="4754880" cy="4754880"/>
          </a:xfrm>
          <a:prstGeom prst="arc">
            <a:avLst/>
          </a:prstGeom>
          <a:noFill/>
          <a:ln w="25400">
            <a:solidFill>
              <a:srgbClr val="0891B2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1078992"/>
            <a:ext cx="2834640" cy="2834640"/>
          </a:xfrm>
          <a:prstGeom prst="arc">
            <a:avLst/>
          </a:prstGeom>
          <a:noFill/>
          <a:ln w="19050">
            <a:solidFill>
              <a:srgbClr val="0F766E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18872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1220"/>
                </a:solidFill>
              </a:rPr>
              <a:t>SafeGuard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58952" y="197510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766E"/>
                </a:solidFill>
              </a:rPr>
              <a:t>基于 Agent 的多模态 AI 反诈骗检测系统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8096" y="2852928"/>
            <a:ext cx="6537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DeepSeek-V4-Pro 作为中枢大脑，调度 Wav2Vec2 与 XceptionNet，结合 RAG 完成文本、音频、视频和模拟诈骗场景的可解释检测。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8096" y="3822192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汇报主线：中枢调度 → RAG 增强 → 模型工具化 → 小程序可视化演示。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8096" y="4407408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4480560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Agent 编排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267712" y="4407408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7712" y="4480560"/>
            <a:ext cx="11704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RAG 增强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611880" y="4407408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4480560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模型训练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974336" y="4407408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4480560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多模态检测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768096" y="623620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</a:rPr>
              <a:t>后端：彭宏缤    前端：朱乘雨    音频训练：刘志恒    视频训练：王家和</a:t>
            </a:r>
            <a:endParaRPr lang="en-US" sz="11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项目架构：DeepSeek-V4-Pro 是中枢大脑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小程序提交任务，后端编排，DeepSeek 调度专用模型并融合证据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46920" y="329184"/>
            <a:ext cx="1975104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20656" y="41148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DeepSeek-V4-Pro 中枢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5783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SafeGuard · Agent 应用开发汇报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13287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2194560"/>
            <a:ext cx="1920240" cy="1920240"/>
          </a:xfrm>
          <a:prstGeom prst="ellipse">
            <a:avLst/>
          </a:prstGeom>
          <a:solidFill>
            <a:srgbClr val="0B1220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89864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DeepSeek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V4-Pro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3232" y="2057400"/>
            <a:ext cx="23317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2057400"/>
            <a:ext cx="73152" cy="8778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258568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微信小程序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914400" y="2660904"/>
            <a:ext cx="194767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输入、上传、进度、报告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761488" y="1261872"/>
            <a:ext cx="23317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61488" y="1261872"/>
            <a:ext cx="73152" cy="8778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62656" y="146304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Spring Boot 后端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2962656" y="1865376"/>
            <a:ext cx="194767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API、异步任务、数据封装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662672" y="1261872"/>
            <a:ext cx="23317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62672" y="1261872"/>
            <a:ext cx="73152" cy="8778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146304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RAG 知识库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7863840" y="1865376"/>
            <a:ext cx="194767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Qdrant + Embedding + Rerank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339328" y="3154680"/>
            <a:ext cx="23317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39328" y="3154680"/>
            <a:ext cx="73152" cy="87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0496" y="3355848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Wav2Vec2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8540496" y="3758184"/>
            <a:ext cx="194767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音频伪造概率与置信度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7296912" y="4919472"/>
            <a:ext cx="23317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96912" y="4919472"/>
            <a:ext cx="73152" cy="8778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512064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XceptionNet</a:t>
            </a:r>
            <a:endParaRPr lang="en-US" sz="1380" dirty="0"/>
          </a:p>
        </p:txBody>
      </p:sp>
      <p:sp>
        <p:nvSpPr>
          <p:cNvPr id="30" name="Text 28"/>
          <p:cNvSpPr/>
          <p:nvPr/>
        </p:nvSpPr>
        <p:spPr>
          <a:xfrm>
            <a:off x="7498080" y="5522976"/>
            <a:ext cx="194767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视频关键帧换脸风险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2057400" y="4919472"/>
            <a:ext cx="233172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057400" y="4919472"/>
            <a:ext cx="73152" cy="8778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58568" y="5120640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MySQL / 管理后台</a:t>
            </a:r>
            <a:endParaRPr lang="en-US" sz="1380" dirty="0"/>
          </a:p>
        </p:txBody>
      </p:sp>
      <p:sp>
        <p:nvSpPr>
          <p:cNvPr id="34" name="Text 32"/>
          <p:cNvSpPr/>
          <p:nvPr/>
        </p:nvSpPr>
        <p:spPr>
          <a:xfrm>
            <a:off x="2258568" y="5522976"/>
            <a:ext cx="194767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记录、模型、知识闭环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3044952" y="2514600"/>
            <a:ext cx="1325880" cy="0"/>
          </a:xfrm>
          <a:prstGeom prst="line">
            <a:avLst/>
          </a:prstGeom>
          <a:noFill/>
          <a:ln w="2032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172968" y="1965960"/>
            <a:ext cx="141732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  <a:headEnd type="triangl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6473952" y="1993392"/>
            <a:ext cx="960120" cy="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473952" y="3429000"/>
            <a:ext cx="1627632" cy="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355080" y="4069080"/>
            <a:ext cx="822960" cy="0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227832" y="4224528"/>
            <a:ext cx="1234440" cy="0"/>
          </a:xfrm>
          <a:prstGeom prst="line">
            <a:avLst/>
          </a:prstGeom>
          <a:noFill/>
          <a:ln w="20320">
            <a:solidFill>
              <a:srgbClr val="16A34A"/>
            </a:solidFill>
            <a:prstDash val="solid"/>
            <a:headEnd type="triangl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960120" y="5870448"/>
            <a:ext cx="10104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架构关键点：DeepSeek 不是旁路解释器，而是中枢调度者；所有检测入口最终回到后端统一封装，专用模型输出证据，大模型负责组织结论。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中枢职责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文本检测、智能问答、媒体报告、模拟诈骗和多模态综合研判统一由大模型承接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46920" y="329184"/>
            <a:ext cx="1975104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20656" y="41148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DeepSeek-V4-Pro 中枢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5783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SafeGuard · Agent 应用开发汇报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13287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481328"/>
            <a:ext cx="32461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481328"/>
            <a:ext cx="73152" cy="14813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82496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文本检测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914400" y="2084832"/>
            <a:ext cx="286207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直接分析输入文本或上传文档，输出风险等级、诈骗类型、可疑点和处置建议；大模型负责语义判断，不再由后端写死结论。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507992" y="1481328"/>
            <a:ext cx="32461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07992" y="1481328"/>
            <a:ext cx="73152" cy="14813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682496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AI 智能问答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4709160" y="2084832"/>
            <a:ext cx="286207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结合 RAG 检索结果，以 SSE 流式方式输出自然中文回答；首屏先展示增量内容，减少现场等待感。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302752" y="1481328"/>
            <a:ext cx="32461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02752" y="1481328"/>
            <a:ext cx="73152" cy="1481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1682496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音频报告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8503920" y="2084832"/>
            <a:ext cx="286207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接收 Wav2Vec2 的概率、置信度、采样率、时长与设备信息，生成贴合样本的差异化解释。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13232" y="3310128"/>
            <a:ext cx="32461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" y="3310128"/>
            <a:ext cx="73152" cy="1481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511296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视频报告</a:t>
            </a:r>
            <a:endParaRPr lang="en-US" sz="1380" dirty="0"/>
          </a:p>
        </p:txBody>
      </p:sp>
      <p:sp>
        <p:nvSpPr>
          <p:cNvPr id="24" name="Text 22"/>
          <p:cNvSpPr/>
          <p:nvPr/>
        </p:nvSpPr>
        <p:spPr>
          <a:xfrm>
            <a:off x="914400" y="3913632"/>
            <a:ext cx="286207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接收 XceptionNet 逐帧概率、聚合指标和 AIGC 元数据，区分视觉模型风险与综合证据风险。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507992" y="3310128"/>
            <a:ext cx="32461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07992" y="3310128"/>
            <a:ext cx="73152" cy="14813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511296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模拟诈骗</a:t>
            </a:r>
            <a:endParaRPr lang="en-US" sz="1380" dirty="0"/>
          </a:p>
        </p:txBody>
      </p:sp>
      <p:sp>
        <p:nvSpPr>
          <p:cNvPr id="28" name="Text 26"/>
          <p:cNvSpPr/>
          <p:nvPr/>
        </p:nvSpPr>
        <p:spPr>
          <a:xfrm>
            <a:off x="4709160" y="3913632"/>
            <a:ext cx="286207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根据诈骗场景、历史对话和知识库，生成真实感对话与防范建议，用于课堂互动演示。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302752" y="3310128"/>
            <a:ext cx="32461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3310128"/>
            <a:ext cx="73152" cy="14813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3511296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多模态研判</a:t>
            </a:r>
            <a:endParaRPr lang="en-US" sz="1380" dirty="0"/>
          </a:p>
        </p:txBody>
      </p:sp>
      <p:sp>
        <p:nvSpPr>
          <p:cNvPr id="32" name="Text 30"/>
          <p:cNvSpPr/>
          <p:nvPr/>
        </p:nvSpPr>
        <p:spPr>
          <a:xfrm>
            <a:off x="8503920" y="3913632"/>
            <a:ext cx="2862072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融合文本、音频、视频证据，给出统一风险判断；适合现场展示 Agent 作为中枢大脑的价值。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987552" y="5596128"/>
            <a:ext cx="10195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220"/>
                </a:solidFill>
              </a:rPr>
              <a:t>设计思想：专用模型负责“识别证据”，DeepSeek 负责“理解任务、调度工具、组织证据、解释结论”，避免各模块各说各话。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流程：让回答贴近反诈知识库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规则过滤、查询改写、向量检索、重排、去重，再注入 DeepSeek Prompt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46920" y="329184"/>
            <a:ext cx="1975104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20656" y="41148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DeepSeek-V4-Pro 中枢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5783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SafeGuard · Agent 应用开发汇报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13287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920240"/>
            <a:ext cx="1417320" cy="169164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59536" y="268833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规则过滤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77824" y="2999232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475569"/>
                </a:solidFill>
              </a:rPr>
              <a:t>匹配刷单、公检法、安全账户、验证码、转账等高危关键词。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2231136" y="2761488"/>
            <a:ext cx="29260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96896" y="1920240"/>
            <a:ext cx="1417320" cy="1691640"/>
          </a:xfrm>
          <a:prstGeom prst="rect">
            <a:avLst/>
          </a:prstGeom>
          <a:solidFill>
            <a:srgbClr val="CCFBF1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54096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706624" y="268833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查询改写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24912" y="2999232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475569"/>
                </a:solidFill>
              </a:rPr>
              <a:t>扩展短问题，提升语义召回效果。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4078224" y="2761488"/>
            <a:ext cx="29260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43984" y="1920240"/>
            <a:ext cx="1417320" cy="169164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53712" y="268833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向量检索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0" y="2999232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475569"/>
                </a:solidFill>
              </a:rPr>
              <a:t>Embedding 后到 Qdrant 检索候选知识；不可用时内存回退。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5925312" y="2761488"/>
            <a:ext cx="29260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91072" y="1920240"/>
            <a:ext cx="1417320" cy="1691640"/>
          </a:xfrm>
          <a:prstGeom prst="rect">
            <a:avLst/>
          </a:prstGeom>
          <a:solidFill>
            <a:srgbClr val="CCFBF1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00800" y="268833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Rerank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19088" y="2999232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475569"/>
                </a:solidFill>
              </a:rPr>
              <a:t>使用 SiliconFlow rerank 模型重新排序候选片段。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7772400" y="2761488"/>
            <a:ext cx="29260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138160" y="1920240"/>
            <a:ext cx="1417320" cy="169164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247888" y="268833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多因子融合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66176" y="2999232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475569"/>
                </a:solidFill>
              </a:rPr>
              <a:t>综合 rerank、vector score、keyword score 得到最终分数。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9619488" y="2761488"/>
            <a:ext cx="29260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985248" y="1920240"/>
            <a:ext cx="1417320" cy="1691640"/>
          </a:xfrm>
          <a:prstGeom prst="rect">
            <a:avLst/>
          </a:prstGeom>
          <a:solidFill>
            <a:srgbClr val="CCFBF1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42448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</a:rPr>
              <a:t>6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0094976" y="268833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Prompt 注入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113264" y="2999232"/>
            <a:ext cx="1161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475569"/>
                </a:solidFill>
              </a:rPr>
              <a:t>formatRagContext 生成参考知识，交给 DeepSeek 生成回答。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960120" y="4617720"/>
            <a:ext cx="4892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60120" y="4617720"/>
            <a:ext cx="73152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1288" y="4818888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代码依据</a:t>
            </a:r>
            <a:endParaRPr lang="en-US" sz="1380" dirty="0"/>
          </a:p>
        </p:txBody>
      </p:sp>
      <p:sp>
        <p:nvSpPr>
          <p:cNvPr id="41" name="Text 39"/>
          <p:cNvSpPr/>
          <p:nvPr/>
        </p:nvSpPr>
        <p:spPr>
          <a:xfrm>
            <a:off x="1161288" y="5221224"/>
            <a:ext cx="45079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RAGService.query：RuleFilter → QueryRewriter → HybridChunker → Embedding/Qdrant → rerank → embeddingDeduplicate → Top-K。缓存和内存回退保证现场演示稳定性。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6327648" y="4617720"/>
            <a:ext cx="48920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27648" y="4617720"/>
            <a:ext cx="73152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28816" y="4818888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使用位置</a:t>
            </a:r>
            <a:endParaRPr lang="en-US" sz="1380" dirty="0"/>
          </a:p>
        </p:txBody>
      </p:sp>
      <p:sp>
        <p:nvSpPr>
          <p:cNvPr id="45" name="Text 43"/>
          <p:cNvSpPr/>
          <p:nvPr/>
        </p:nvSpPr>
        <p:spPr>
          <a:xfrm>
            <a:off x="6528816" y="5221224"/>
            <a:ext cx="45079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AI 助手、文本检测、模拟诈骗、多模态分析都会把相关知识注入 DeepSeek Prompt，让回答更贴近反诈业务知识。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编排流程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AgentOrchestrator 将一次检测拆成依赖解析、Agent 执行、结果聚合三段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46920" y="329184"/>
            <a:ext cx="1975104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20656" y="41148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DeepSeek-V4-Pro 中枢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5783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SafeGuard · Agent 应用开发汇报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13287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508760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18488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81328" y="152704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0F172A"/>
                </a:solidFill>
              </a:rPr>
              <a:t>依赖解析：RAG + CoT + ReAct 并行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1481328" y="1810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CompletableFuture 并行执行知识检索、分步推理和工具调用思考；不是串行等待，能兼顾质量与响应速度。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578608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688336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81328" y="259689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0F172A"/>
                </a:solidFill>
              </a:rPr>
              <a:t>Agent 执行：按任务选择能力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1481328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文本检测使用 TEXT_ANALYSIS 与 KNOWLEDGE；音视频检测把 Python 模型服务包装成可调用工具。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3648456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758184"/>
            <a:ext cx="420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81328" y="366674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0F172A"/>
                </a:solidFill>
              </a:rPr>
              <a:t>结果聚合：生成综合报告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1481328" y="39502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mergeResults 汇总参考知识、CoT 评估、Agent 输出和 ReAct 过程，并生成前端能直接展示的中文报告。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73952" y="1353312"/>
            <a:ext cx="4480560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1664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OrchestratorResponse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03720" y="2212848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2286000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891B2"/>
                </a:solidFill>
              </a:rPr>
              <a:t>finalResult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8732520" y="2212848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32520" y="2286000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766E"/>
                </a:solidFill>
              </a:rPr>
              <a:t>agentResults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903720" y="2871216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294436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891B2"/>
                </a:solidFill>
              </a:rPr>
              <a:t>ragContext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8732520" y="2871216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294436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766E"/>
                </a:solidFill>
              </a:rPr>
              <a:t>cotResult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903720" y="3529584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3602736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891B2"/>
                </a:solidFill>
              </a:rPr>
              <a:t>reactThoughts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8732520" y="3529584"/>
            <a:ext cx="1444752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32520" y="3602736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F766E"/>
                </a:solidFill>
              </a:rPr>
              <a:t>reasoningSummary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6812280" y="435254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这些结构化字段支撑小程序中的“AI 分析过程”“知识来源”“处理进度”和最终中文报告；也方便后续接入检测历史。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文本检测与 AI 助手：DeepSeek 语义分析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文档上传、RAG 增强、结构化解析、SSE 流式中文输出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46920" y="329184"/>
            <a:ext cx="1975104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20656" y="41148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DeepSeek-V4-Pro 中枢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5783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SafeGuard · Agent 应用开发汇报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13287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444752"/>
            <a:ext cx="3246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1444752"/>
            <a:ext cx="73152" cy="3566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645920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文本检测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950976" y="2048256"/>
            <a:ext cx="2862072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detectText / detectTextDocument 将输入框文本或上传文档封装为 OrchestratorRequest，开启 RAG、CoT、ReAct，由 DeepSeek 输出风险等级、诈骗类型、可疑点和建议。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480560" y="1444752"/>
            <a:ext cx="3246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444752"/>
            <a:ext cx="73152" cy="3566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645920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结果清洗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4681728" y="2048256"/>
            <a:ext cx="2862072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buildTextAgentPayload 与 buildTextDetectionReport 把模型结果转为中文报告，避免小程序直接展示 JSON、Markdown 包裹或英文键名，同时保留风险字段。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211312" y="1444752"/>
            <a:ext cx="3246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11312" y="1444752"/>
            <a:ext cx="73152" cy="3566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645920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流式问答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8412480" y="2048256"/>
            <a:ext cx="2862072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knowledge.js 先调用 RAG，再通过 requestStream 接收 /api/llm/analyze/stream，约 120ms 节流刷新；失败时回退普通接口，保证演示可用。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987552" y="5669280"/>
            <a:ext cx="10195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前端体验重点：文本检测支持手输和文档上传；AI 助手优先流式输出，用户看到的是连续中文，而不是中间 JSON。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音频与视频检测：专用模型作为 Agent 工具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Wav2Vec2 与 XceptionNet 输出证据，DeepSeek 生成可解释报告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46920" y="329184"/>
            <a:ext cx="1975104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20656" y="41148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DeepSeek-V4-Pro 中枢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5783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SafeGuard · Agent 应用开发汇报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13287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1444752"/>
            <a:ext cx="4892040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444752"/>
            <a:ext cx="73152" cy="3529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1645920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音频检测：Wav2Vec2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1069848" y="2048256"/>
            <a:ext cx="4507992" cy="2798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Python 服务输出 label、伪造概率、真实概率、置信度、模型版本、设备、推理耗时、采样率、声道数、时长与截断状态。DeepSeek 根据这些真实字段生成贴合文件本身的报告，并支持批量检测场景。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419088" y="1444752"/>
            <a:ext cx="4892040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9088" y="1444752"/>
            <a:ext cx="73152" cy="35295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0256" y="1645920"/>
            <a:ext cx="4507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视频检测：XceptionNet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6620256" y="2048256"/>
            <a:ext cx="4507992" cy="2798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后端抽取关键帧，做人脸裁剪或整帧降级检测；模型返回逐帧伪造概率。DeepSeek 综合平均概率、最高帧、可疑帧占比和 AIGC 元数据，说明哪些帧更可疑、为什么最终风险更高。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3401568" y="5358384"/>
            <a:ext cx="5394960" cy="51206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551383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重点口径：XceptionNet 聚焦换脸/面部篡改，不等同于通用视频大模型。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端：训练模型并服务化给 Agent 调用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音频和视频不是写死结果，而是训练模型输出中间证据，再交给 DeepSeek 解释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46920" y="329184"/>
            <a:ext cx="1975104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20656" y="41148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DeepSeek-V4-Pro 中枢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5783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SafeGuard · Agent 应用开发汇报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13287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353312"/>
            <a:ext cx="34290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353312"/>
            <a:ext cx="73152" cy="3730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5448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音频训练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914400" y="1956816"/>
            <a:ext cx="3044952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train_wav2vec2.py 读取 ASVspoof 协议文件，完成 bonafide/spoof 标签映射、16kHz 重采样、最大时长裁剪、类别权重、FP16、梯度累积、warmup、F1/accuracy 指标和最佳模型保存。训练阶段重点保证分类能力。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370832" y="1353312"/>
            <a:ext cx="34290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70832" y="1353312"/>
            <a:ext cx="73152" cy="37307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55448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音频服务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4572000" y="1956816"/>
            <a:ext cx="3044952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utils.py 的 load_model_once 负责模型缓存，predict_audio 输出 label、伪造概率、真实概率、置信度、采样率、时长、截断状态、设备和耗时，供 DeepSeek 生成差异化报告。服务阶段重点保证稳定推理。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028432" y="1353312"/>
            <a:ext cx="34290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28432" y="1353312"/>
            <a:ext cx="73152" cy="3730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554480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视频训练与服务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8229600" y="1956816"/>
            <a:ext cx="3044952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train.py 使用 XceptionNet 二分类模型，支持 CUDA、混合精度、梯度累积、断点恢复和 best_model.pth 保存；服务端对关键帧做人脸/整帧检测，输出逐帧概率。GPU 优先用于提高检测速度。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987552" y="5632704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</a:rPr>
              <a:t>汇报口径：模型训练部分说明“证据从哪里来”，Agent 部分说明“证据如何被调度和解释”。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前端适配：小程序为主，Web 管理端辅助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微信小程序承载现场演示；Web 管理端展示记录、模型和知识库闭环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46920" y="329184"/>
            <a:ext cx="1975104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20656" y="41148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DeepSeek-V4-Pro 中枢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5783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SafeGuard · Agent 应用开发汇报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13287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1444752"/>
            <a:ext cx="473659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444752"/>
            <a:ext cx="73152" cy="15361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1645920"/>
            <a:ext cx="4352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微信小程序检测页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1115568" y="2048256"/>
            <a:ext cx="435254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上传文本/文档/音频/视频，展示 Agent 状态、进度卡片、风险概率、可疑点和中文报告；核心功能围绕现场演示设计。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355080" y="1444752"/>
            <a:ext cx="473659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5080" y="1444752"/>
            <a:ext cx="73152" cy="15361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645920"/>
            <a:ext cx="4352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流式输出适配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6556248" y="2048256"/>
            <a:ext cx="435254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knowledge.js + requestStream 使用 enableChunked 接收 SSE，并做约 120ms 节流刷新，让 AI 助手先输出可读中文。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914400" y="3383280"/>
            <a:ext cx="473659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383280"/>
            <a:ext cx="73152" cy="1536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3584448"/>
            <a:ext cx="4352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异步任务适配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1115568" y="3986784"/>
            <a:ext cx="435254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TaskWatcher 优先 SSE，失败回退轮询，支撑视频检测长任务的进度展示，也能同步检测历史。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355080" y="3383280"/>
            <a:ext cx="473659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3383280"/>
            <a:ext cx="73152" cy="15361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56248" y="3584448"/>
            <a:ext cx="4352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</a:rPr>
              <a:t>Web 管理端</a:t>
            </a:r>
            <a:endParaRPr lang="en-US" sz="1380" dirty="0"/>
          </a:p>
        </p:txBody>
      </p:sp>
      <p:sp>
        <p:nvSpPr>
          <p:cNvPr id="24" name="Text 22"/>
          <p:cNvSpPr/>
          <p:nvPr/>
        </p:nvSpPr>
        <p:spPr>
          <a:xfrm>
            <a:off x="6556248" y="3986784"/>
            <a:ext cx="4352544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</a:rPr>
              <a:t>Vue 3 + Element Plus + ECharts，用于检测记录、模型信息、知识库和统计展示；课堂汇报中作为辅助闭环说明。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960120" y="5632704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核心代码：detection.js / detection.wxml / knowledge.js / simulate.js / request.js / taskWatcher.js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小组分工与设计重点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分工不是页面归属，而是围绕核心链路各自承担关键模块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46920" y="329184"/>
            <a:ext cx="1975104" cy="329184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20656" y="411480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DeepSeek-V4-Pro 中枢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566928" y="6473952"/>
            <a:ext cx="11057839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SafeGuard · Agent 应用开发汇报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13287" y="65288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389888"/>
            <a:ext cx="10744200" cy="4572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2704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成员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057400" y="152704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方向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29000" y="1527048"/>
            <a:ext cx="7955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核心工作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3232" y="1847088"/>
            <a:ext cx="10744200" cy="8595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10312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彭宏缤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2057400" y="21031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766E"/>
                </a:solidFill>
              </a:rPr>
              <a:t>后端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Spring Boot、AgentOrchestrator、LLMService、RAG 调用、音视频调度、异步任务、检测历史与统一结果封装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713232" y="2706624"/>
            <a:ext cx="10744200" cy="859536"/>
          </a:xfrm>
          <a:prstGeom prst="rect">
            <a:avLst/>
          </a:prstGeom>
          <a:solidFill>
            <a:srgbClr val="F1F5F9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6265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朱乘雨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2057400" y="296265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766E"/>
                </a:solidFill>
              </a:rPr>
              <a:t>前端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3429000" y="2871216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小程序检测页、AI 助手、模拟诈骗、SSE 流式输出、TaskWatcher、动态进度卡片、管理后台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713232" y="3566160"/>
            <a:ext cx="10744200" cy="8595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82219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刘志恒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2057400" y="3822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766E"/>
                </a:solidFill>
              </a:rPr>
              <a:t>音频训练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3429000" y="3730752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Wav2Vec2 训练与服务化、音频预处理、模型缓存、GPU 推理、概率与置信度输出、批量检测适配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713232" y="4425696"/>
            <a:ext cx="10744200" cy="859536"/>
          </a:xfrm>
          <a:prstGeom prst="rect">
            <a:avLst/>
          </a:prstGeom>
          <a:solidFill>
            <a:srgbClr val="F1F5F9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6817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</a:rPr>
              <a:t>王家和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2057400" y="46817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766E"/>
                </a:solidFill>
              </a:rPr>
              <a:t>视频训练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3429000" y="4590288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334155"/>
                </a:solidFill>
              </a:rPr>
              <a:t>XceptionNet 训练与服务化、关键帧检测、逐帧概率、人脸/整帧检测、AIGC 元数据辅助聚合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914400" y="577900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每个成员对应一条可演示链路：前端入口 → 后端 Agent 编排 → 专用模型/知识库 → 中文报告与历史记录。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7498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220"/>
                </a:solidFill>
              </a:rPr>
              <a:t>总结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58952" y="1572768"/>
            <a:ext cx="8778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SafeGuard 的汇报重点应聚焦 Agent 应用开发：DeepSeek 如何调度工具，RAG 如何增强判断，前端如何适配流式输出和异步进度，专用模型如何作为可解释工具参与反诈检测。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2788920"/>
            <a:ext cx="4434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788920"/>
            <a:ext cx="91440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9626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</a:rPr>
              <a:t>中枢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801368" y="29169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DeepSeek-V4-Pro 负责文本、问答、模拟诈骗和综合研判，是系统的统一决策与解释入口。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0" y="2788920"/>
            <a:ext cx="4434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788920"/>
            <a:ext cx="91440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29626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</a:rPr>
              <a:t>工具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76288" y="29169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Python 训练的 Wav2Vec2 与 XceptionNet 输出检测证据，后端将其封装为 Agent 可调用能力。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3840480"/>
            <a:ext cx="4434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840480"/>
            <a:ext cx="91440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401421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</a:rPr>
              <a:t>知识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801368" y="39684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RAG 提供反诈知识召回、重排和 Prompt 增强，让回答更符合诈骗识别业务语境。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3840480"/>
            <a:ext cx="4434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3840480"/>
            <a:ext cx="91440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401421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</a:rPr>
              <a:t>体验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76288" y="39684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小程序负责主演示，Web 端辅助展示数据管理闭环，流式输出和进度卡片降低等待感。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" y="5669280"/>
            <a:ext cx="10469880" cy="530352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788152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B1220"/>
                </a:solidFill>
              </a:rPr>
              <a:t>建议演示顺序：AI 助手 → 文本检测 → 音频检测 → 视频检测 → 模拟诈骗 → 检测历史 / 后台。结尾强调：本项目不是单点模型展示，而是围绕 DeepSeek 中枢把知识、工具、数据和前端体验串成可演示的 Agent 应用。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SafeGuard 项目汇报</dc:title>
  <dc:subject>基于 Agent 的多模态 AI 反诈骗检测系统</dc:subject>
  <dc:creator>SafeGuard Team</dc:creator>
  <cp:lastModifiedBy>SafeGuard Team</cp:lastModifiedBy>
  <cp:revision>1</cp:revision>
  <dcterms:created xsi:type="dcterms:W3CDTF">2026-06-22T08:18:24Z</dcterms:created>
  <dcterms:modified xsi:type="dcterms:W3CDTF">2026-06-22T08:18:24Z</dcterms:modified>
</cp:coreProperties>
</file>